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15203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657600"/>
            <a:ext cx="4572000" cy="4572000"/>
          </a:xfrm>
          <a:prstGeom prst="ellipse">
            <a:avLst/>
          </a:prstGeom>
          <a:solidFill>
            <a:srgbClr val="1A132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68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is the trigger, not the cause.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붕괴의 진범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풍요와 인과적 착시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기반 이벤트 지식그래프와 전단계 기준(Front-door)을 통한 내생적 붕괴의 식별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5074920" cy="1371600"/>
          </a:xfrm>
          <a:prstGeom prst="roundRect">
            <a:avLst>
              <a:gd name="adj" fmla="val 6667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표면 서사 (기각)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f ( C )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63640" y="4114800"/>
            <a:ext cx="5074920" cy="1371600"/>
          </a:xfrm>
          <a:prstGeom prst="roundRect">
            <a:avLst>
              <a:gd name="adj" fmla="val 6667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 경로 (본 연구)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709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→ E → M → Y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Inference and AI  ·  Final Project (Track B)  ·  최한동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문제 정의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질문과 가설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ASSERTED  </a:t>
            </a:r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텍스트가 주장하는 원인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→ Y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역사서·사후 분석이 결과 직전의 외부 충격(C)에 모든 책임을 전가한다.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 </a:t>
            </a:r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모델로 식별되는 원인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2860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→ E → M → 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풍요(W)가 은닉 엔트로피(E)·담론 왜곡(M)을 거쳐 붕괴를 내생적으로 준비한다.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95020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 H.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C는 트리거일 뿐이며 진정한 처치는 W다. 충격은 이미 임계점 이하로 떨어진 시스템을 현실화할 뿐이다.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13892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질문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468112"/>
            <a:ext cx="1046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역사 텍스트가 주장하는 원인(C→Y)과, 모델로 식별 가능한 원인(W→…→Y)은 일치하는가?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문제 정의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 — Pearl의 인과 사다리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743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연관 (Association)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35661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C와 Y의 시간적 인접·동시출현을 관측. 텍스트의 asserted 인과 구조를 집계한다.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16552" y="17830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2103120"/>
            <a:ext cx="457200" cy="45720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(Intervention)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35661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do(W)에 대한 전단계 식별. 측정 불가 교란을 우회해 인과효과를 계산한다.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84464" y="178308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04504" y="210312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860450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77072" y="2743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반사실 (Counterfactual)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77072" y="356616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do(E=Low). 식별된 구조를 데이터 희소 사례로 이전해 대안 시나리오를 검증한다.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1→2→3 전 사다리를 관통한다. </a:t>
            </a:r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도약은 rung 2 — 측정 불가 교란 하에서의 식별이다.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문제 정의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장면, 그리고 통제군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붕괴 사례 — 기록자 전원이 외부 충격(C)을 진범으로 지목했다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2128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스파르타 (BC 371)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패전(레욱트라)이라는 외부 충격(C)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16552" y="20116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90872" y="22128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IMF (1997)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90872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외환보유고 고갈·헤지펀드 공격(C)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84464" y="20116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58784" y="22128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닷컴 버블 (2000)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58784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금리 인상·투자심리 급랭(C)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통제군 — 결과 변이(Y=0)가 있어야 식별이 가능하다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2976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비붕괴 대조: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대만 1997(동일 외환 충격, 미붕괴) · 생존 닷컴 기업. 동일 충격을 받고도 살아남은 사례가 D&lt;θ 조건을 식별한다.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12500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2,400년의 시차를 두고 동일한 인과 오독(C→Y)이 반복된다. 붕괴-only 사례만으로는 식별 불가 — 본 설계는 비붕괴 대조를 포함한다.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문제 정의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단선 인과의 결함 — 방아쇠 vs 기저상태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67128"/>
            <a:ext cx="457200" cy="45720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63040" y="19476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미시: 기저질환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350008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치사율 낮은 바이러스(충격)가 사망(붕괴)을 불렀다면, 진범은 보이지 않게 진행된 기저질환(부식)이다.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538728"/>
            <a:ext cx="457200" cy="45720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63040" y="33192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거시: 자기조직화 임계성(SOC)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63040" y="3721608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마지막 모래알 하나가 산사태를 일으키는 게 아니다. 이미 임계각에 도달한 구조적 상태가 진짜 원인이다.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910328"/>
            <a:ext cx="457200" cy="45720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46908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시간지연: 황금기의 위장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63040" y="5093208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풍요 주입 직후의 자산 급증이 내부 부식을 은폐한다. 지연 τ가 원인과 결과를 단절시킨다.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거대한 풍요는 일시적 방어력을 제공하지만, 내부 규율을 잠식해 작은 충격에도 무너지는 임계점을 형성한다.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메커니즘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미시기초 — 보상 폐순환 3단계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목적–보상 분리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풍요가 조직의 본원적 목적과 개인의 경제적 보상 간 연결을 끊는다. (도파민 폐순환)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416552" y="18288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2148840"/>
            <a:ext cx="457200" cy="45720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2788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구축효과 (Crowding-out)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쉽게 얻는 외부 자원이 내부의 건전한 혁신 동력과 규율을 대체·잠식한다.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84464" y="18288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04504" y="2148840"/>
            <a:ext cx="457200" cy="457200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8" name="Text 16"/>
          <p:cNvSpPr/>
          <p:nvPr/>
        </p:nvSpPr>
        <p:spPr>
          <a:xfrm>
            <a:off x="8604504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77072" y="278892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수단의 목적화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77072" y="352044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 생존보다 개인 지대 추구가 우선시되며 대리인 비용이 폭증한다.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조직의 붕괴는 거대 담론이 아니라 미시적 보상 체계의 왜곡에서 출발한다 — 이 왜곡의 누적이 곧 엔트로피 E다.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메커니즘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일원화 — 단일 6변수 골격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943600" cy="4343400"/>
          </a:xfrm>
          <a:prstGeom prst="roundRect">
            <a:avLst>
              <a:gd name="adj" fmla="val 2105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6변수 범례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359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외생적 과잉 풍요 (처치)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74920" y="235915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980944"/>
            <a:ext cx="420624" cy="420624"/>
          </a:xfrm>
          <a:prstGeom prst="ellipse">
            <a:avLst/>
          </a:prstGeom>
          <a:solidFill>
            <a:srgbClr val="F5B84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9626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엔트로피 — 은닉 매개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74920" y="296265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관측불가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584448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담론 대리지표 (PMI·토픽발산)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74920" y="356616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187952"/>
            <a:ext cx="420624" cy="420624"/>
          </a:xfrm>
          <a:prstGeom prst="ellipse">
            <a:avLst/>
          </a:prstGeom>
          <a:solidFill>
            <a:srgbClr val="7E8CA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1696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제도·거버넌스 품질 — 교란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74920" y="416966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관측불가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791456"/>
            <a:ext cx="420624" cy="420624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4773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외생적 충격 (트리거)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074920" y="477316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5394960"/>
            <a:ext cx="420624" cy="420624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17320" y="53766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붕괴 (결과)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74920" y="537667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29400" y="1783080"/>
            <a:ext cx="5029200" cy="4343400"/>
          </a:xfrm>
          <a:prstGeom prst="roundRect">
            <a:avLst>
              <a:gd name="adj" fmla="val 2105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037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거시 이론의 수렴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03720" y="2423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역사학  </a:t>
            </a:r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이븐 할둔 — 아사비야 쇠퇴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03720" y="2990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복잡계  </a:t>
            </a:r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터친 — 엘리트 과잉 생산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903720" y="35570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거시경제  </a:t>
            </a:r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자원의 저주 (네덜란드병)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903720" y="41239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  </a:t>
            </a:r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젠슨 — 잉여현금흐름(FCF)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903720" y="4800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용어만 다를 뿐 구조는 동일하다: 풍요 → 부식 → 붕괴.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53492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정정: 현상 설명용 X·D 표기를 폐기하고, 은닉 엔트로피 E와 관측 대리 M으로 변수 체계를 통일한다.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메커니즘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E의 다중실현 — 6가지 발현 경로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109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00400"/>
                <a:gridCol w="352044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B841"/>
                          </a:solidFill>
                        </a:rPr>
                        <a:t>유형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B841"/>
                          </a:solidFill>
                        </a:rPr>
                        <a:t>메커니즘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B841"/>
                          </a:solidFill>
                        </a:rPr>
                        <a:t>역사·기업 사례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B841"/>
                          </a:solidFill>
                        </a:rPr>
                        <a:t>관측 담론 (M)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B841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대리인 비용 극대화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로마 후기 · 스타트업 외형주의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4C0D0"/>
                          </a:solidFill>
                        </a:rPr>
                        <a:t>'성장' 단어 빈도 급증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B841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에코 체임버 (피드백 단절)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WeWork · 엔론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4C0D0"/>
                          </a:solidFill>
                        </a:rPr>
                        <a:t>반대 의견 묵살, 내부자 결속어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B841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지대 추구 쏠림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스페인 銀 유입 · 네덜란드병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4C0D0"/>
                          </a:solidFill>
                        </a:rPr>
                        <a:t>기득권 유지, 혁신어 소멸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B841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단일장애점 (동질화)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2008 서브프라임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4C0D0"/>
                          </a:solidFill>
                        </a:rPr>
                        <a:t>획일 리스크 모델 찬양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B841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심사·규율 무력화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한국 1997 기업부채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4C0D0"/>
                          </a:solidFill>
                        </a:rPr>
                        <a:t>'무차별 대출', 규모 맹신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5B841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성공의 덫 (탐색 소실)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</a:rPr>
                        <a:t>노키아 · 코닥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4C0D0"/>
                          </a:solidFill>
                        </a:rPr>
                        <a:t>'수익성 방어' 집중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다중실현은 현상의 도형성(同型性)을 보일 뿐 — 실제 증명은 단일 골격의 앞문 식별이 전담한다.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메커니즘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경계조건 — 외생 횡재(W) vs 내생 부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내생적 부 (Endogenous)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 향상·기술 혁신에 의한 성과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목적과 보상이 긴밀히 연결됨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조직의 항구적 역량(U)을 강화함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모형의 적용 대상이 아님 (부식 미발생)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외생적 횡재 (Windfall)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자원가 폭등·유동성 과잉·투자 급증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노력과 보상의 괴리, 포획 가능한 '눈먼 돈'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규율을 부식시키고 대리인 비용을 증가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SCM의 핵심 처치 변수 (W)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부가 재앙은 아니다. 본 모델은 스스로 만든 생산성이 아닌, 쏟아진 '눈먼 돈'에 한정된다.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6047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메커니즘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시간지연 τ — 착시 생성기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178040" cy="4297680"/>
          </a:xfrm>
          <a:prstGeom prst="roundRect">
            <a:avLst>
              <a:gd name="adj" fmla="val 2128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7" name="Image 0" descr="/home/claude/c_ta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874520"/>
            <a:ext cx="68580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737360"/>
            <a:ext cx="3840480" cy="4297680"/>
          </a:xfrm>
          <a:prstGeom prst="roundRect">
            <a:avLst>
              <a:gd name="adj" fmla="val 2381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황금기로 위장된 구간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9244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풍요(W) 주입 직후 자산 급증이 내부 부식(E)을 은폐한다.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92440" y="35661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τ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지연이 원인(W)과 결과(Y)를 단절시켜, 사람들은 붕괴 직전의 사소한 방아쇠(C)를 진범으로 오인한다.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식별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 식별 DAG + C 효과조정자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903720" cy="4343400"/>
          </a:xfrm>
          <a:prstGeom prst="roundRect">
            <a:avLst>
              <a:gd name="adj" fmla="val 2105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7" name="Image 0" descr="/home/claude/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40280"/>
            <a:ext cx="6629400" cy="3456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715000"/>
            <a:ext cx="6629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실선=식별 경로  ·  점선=관측불가(U,E)  ·  빨강=충격 C(효과조정자)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35240" y="1783080"/>
            <a:ext cx="4023360" cy="4343400"/>
          </a:xfrm>
          <a:prstGeom prst="roundRect">
            <a:avLst>
              <a:gd name="adj" fmla="val 2273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0956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60" y="24231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 경로 [I]: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→ M → Y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만으로 do-효과 계산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→ M: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은닉 엔트로피의 관측 대리(측정모델)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원인이 아니라 부식의 붕괴 발현을 증폭하는 효과조정자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18120" y="4526280"/>
            <a:ext cx="3657600" cy="1417320"/>
          </a:xfrm>
          <a:prstGeom prst="roundRect">
            <a:avLst>
              <a:gd name="adj" fmla="val 6452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01000" y="4663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식별을 가능케 하는 두 부재 엣지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01000" y="5029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A1:  U → M  부재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A2:  W → Y  직접 부재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식별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교란 함정 U와 전통 기법의 무력화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← U → Y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통치역량·제도건전성 U가 풍요 유치와 붕괴 취약성에 동시 작용 → 백도어가 열려 단순 회귀는 위험을 과대추정한다.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11880" cy="2697480"/>
          </a:xfrm>
          <a:prstGeom prst="roundRect">
            <a:avLst>
              <a:gd name="adj" fmla="val 3390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백도어 통제 불가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교란 U(잠재 역량)를 세 사례에 공통 척도로 수치화할 수 없다. 조정집합 구성이 원리적으로 불가능.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16552" y="3200400"/>
            <a:ext cx="3611880" cy="2697480"/>
          </a:xfrm>
          <a:prstGeom prst="roundRect">
            <a:avLst>
              <a:gd name="adj" fmla="val 3390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90872" y="3977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도구변수(IV) 불가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90872" y="46177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C는 W의 원인이 아니라 Y의 공동 트리거 — 관련성 조건(배제제약 이전)을 위반한다.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84464" y="3200400"/>
            <a:ext cx="3611880" cy="2697480"/>
          </a:xfrm>
          <a:prstGeom prst="roundRect">
            <a:avLst>
              <a:gd name="adj" fmla="val 3390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58784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58784" y="3977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이중차분(DiD) 불가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558784" y="461772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2,400년 격차의 사례 간 공통 추세 가정이 성립하지 않는다 (애초에 역량이 다른 조직).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식별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앞문 전략 — 담론 발자국 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1097280"/>
          </a:xfrm>
          <a:prstGeom prst="roundRect">
            <a:avLst>
              <a:gd name="adj" fmla="val 8333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10469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후문(U)을 닫을 수 없다면 앞문을 연다. 숨겨진 부식은 소통 단절·언어 패턴 변화, 즉 담론(M)에 반드시 족적을 남긴다.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M의 두 측정 지표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 동시출현: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호황·리스크 키워드의 점별 상호정보량. t0→t5에 걸쳐 하락.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토픽 코사인 거리: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낙관·위기 기사군 중심점 거리 1-cosθ가 단조 증가.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표준화·합성 후 이산화: M ∈ {Low, Mid, High}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진단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건전: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 높음 — 호황 속에서도 리스크가 함께 보도됨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부식: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 → 0·음수, 토픽거리 ↑ — 호황·위기 담론의 사일로화(인지적 면역 마비)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식별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앞문 식별공식과 가정 A1·A2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74520"/>
            <a:ext cx="11109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 Y | do(W) )  =  Σ_m  P( m | W )  ·  Σ_w'  P( Y | w', m )  P( w' 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불가한 U를 우회하여, W→M 효과와 M→Y 효과의 결합만으로 전체 인과효과를 추정한다. (Eq. 7.1)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440680" cy="2514600"/>
          </a:xfrm>
          <a:prstGeom prst="roundRect">
            <a:avLst>
              <a:gd name="adj" fmla="val 3636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 분해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P(m|W):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하에서 W→M에 교란이 없으므로 관측 조건부확률 = 인과효과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Σ P(Y|w',m)P(w'):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W를 조정해 백도어 M←W←U→Y를 차단 — U를 건드리지 않고 그 길목을 막는다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3383280"/>
            <a:ext cx="5440680" cy="2514600"/>
          </a:xfrm>
          <a:prstGeom prst="roundRect">
            <a:avLst>
              <a:gd name="adj" fmla="val 3636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필수 가정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(차폐):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→ M 직접경로 부재 — 거버넌스 품질이 담론 지표에 직접 영향을 주지 않음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(배타):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→ Y 직접경로 부재 — 풍요는 오직 M을 통해서만 붕괴에 작용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5532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위반 시의 편향 방향은 S18에서 정량화한다.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· 식별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인문 데이터에서 앞문 = 기본 전략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31720"/>
                <a:gridCol w="5486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9BD5"/>
                          </a:solidFill>
                        </a:rPr>
                        <a:t>데이터 특성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9BD5"/>
                          </a:solidFill>
                        </a:rPr>
                        <a:t>가용성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9BD5"/>
                          </a:solidFill>
                        </a:rPr>
                        <a:t>전략적 가치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통치역량·제도 (U)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350"/>
                          </a:solidFill>
                        </a:rPr>
                        <a:t>측정 불가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C0D0"/>
                          </a:solidFill>
                        </a:rPr>
                        <a:t>백도어 통제를 원천 차단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재무·물리 자원 (W)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풍부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C0D0"/>
                          </a:solidFill>
                        </a:rPr>
                        <a:t>외생적 처치 시점을 명확히 식별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언어·담론 기록 (M)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</a:rPr>
                        <a:t>매우 풍부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C0D0"/>
                          </a:solidFill>
                        </a:rPr>
                        <a:t>조직 내부 부식을 입증하는 완벽한 매개체</a:t>
                      </a:r>
                      <a:endParaRPr lang="en-US" sz="14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5440680"/>
            <a:ext cx="10469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역사 텍스트는 담론(M)은 풍부히 남기지만 제도 품질(U)은 남기지 않는다. 앞문은 예외적 기교가 아니라 인문 데이터 구조의 귀결이다.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25396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시뮬레이션·검증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합성세계 DGP — 무엇을 입증하는가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400800" cy="4160520"/>
          </a:xfrm>
          <a:prstGeom prst="roundRect">
            <a:avLst>
              <a:gd name="adj" fmla="val 2198"/>
            </a:avLst>
          </a:prstGeom>
          <a:solidFill>
            <a:srgbClr val="0A0D14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E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DGP (seed=42, N=5000)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4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~ Bernoulli(0.5)           # 미관측 거버넌스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4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| U : P(W=1|U=0)=0.70,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4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P(W=1|U=1)=0.30      # U -&gt; 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4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| W ~ Cat(3)               # W -&gt; M  (A1: U-/-&gt;M)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4C0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| M,U : 취약 AND 충격       # A2: W-/-&gt;Y 직접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E8C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세 추정 대조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      = P(Y|W)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front_door = Σ P(m|W)·Σ P(Y|w',m)P(w')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truth      = P(Y|do(W))      # DGP 직접계산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0" y="1783080"/>
            <a:ext cx="4526280" cy="4160520"/>
          </a:xfrm>
          <a:prstGeom prst="roundRect">
            <a:avLst>
              <a:gd name="adj" fmla="val 2198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라벨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0" y="246888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시뮬레이션이 입증하는 것은 식별 전략의 타당성이지, 역사적 사실이 아니다.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06640" y="361188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합성 데이터의 이점은 참값(ground truth)을 알 수 있다는 것 — 추정량의 정확도를 참값 대비로 검증할 수 있다.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06640" y="5120640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실데이터 대체 경로: 빅카인즈·NYT·페르세우스 (코드 무변경).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25396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시뮬레이션·검증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추정 정확도 — 순진 vs 앞문 vs 참값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178040" cy="4206240"/>
          </a:xfrm>
          <a:prstGeom prst="roundRect">
            <a:avLst>
              <a:gd name="adj" fmla="val 2174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7" name="Image 0" descr="/home/claude/c_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828800"/>
            <a:ext cx="68580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78308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순진 과대편향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8092440" y="3108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참효과 대비 약 1.21배 (U가 여는 백도어)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18120" y="397764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9244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앞문 vs 참값 오차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92440" y="4480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092440" y="5303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U를 전혀 관측하지 않고 참값을 복원 (T2, seed=42, N=5000)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035040"/>
            <a:ext cx="11109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정정: 이전 버전의 'OLS +35%p / 2.5배'는 본문·코드에 근거가 없어 본문 T2 수치로 교체함.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25396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시뮬레이션·검증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민감도 분석 = 보수적 상한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720840" cy="4206240"/>
          </a:xfrm>
          <a:prstGeom prst="roundRect">
            <a:avLst>
              <a:gd name="adj" fmla="val 2174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7" name="Image 0" descr="/home/claude/c_se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828800"/>
            <a:ext cx="644652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783080"/>
            <a:ext cx="4297680" cy="4023360"/>
          </a:xfrm>
          <a:prstGeom prst="roundRect">
            <a:avLst>
              <a:gd name="adj" fmla="val 2273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06640" y="1965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일관된 논리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06640" y="2423160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위반 =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자원 버퍼(음의 직접경로 W→Y)를 누락 → 과대추정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위반 =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U→M 오염 → 본 DGP 구조에서 과대 방향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498080" y="39776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26680" y="4114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26680" y="4434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위반 모두 상향 편향 → 앞문 추정은 위험의 보수적 상한이다. (기울기 크기는 예시적, 부호 방향이 핵심)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25396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시뮬레이션·검증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붕괴는 논리곱(AND) — 그리고 반례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11109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1[ D &gt; θ ] × C        (D = 낮은 S = 높은 E의 발현)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논리곱 회로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부식이 임계점을 넘은 상태(D&gt;θ)에서 외부 충격(C)이 동시에 주어질 때만 Y=1이 성립한다. 내부가 썩어도 충격이 없으면, 충격만으로 거대 시스템은 무너지지 않는다.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72200" y="306324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246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반례 (재설정): 풍요 이전기 스파르타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70332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리쿠르고스 체제기의 스파르타는 심각한 외부 충격(예: 기원전 5세기 대지진·헬로트 반란)을 받고도, 내부 규율이 건전(낮은 E, D&lt;θ)했기에 흡수했다 → Y=0.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52578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정정: '황금 유입 전이라 생존'은 사실 오류 — 페르시아 자금은 BC405 승전을 만든 재원으로 이미 유입. 반례를 '풍요 이전기 충격 흡수'로 재정의.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2025396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2025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시뮬레이션·검증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방아쇠 차단의 환상 — do(C=0) vs do(E)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7178040" cy="4206240"/>
          </a:xfrm>
          <a:prstGeom prst="roundRect">
            <a:avLst>
              <a:gd name="adj" fmla="val 2174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pic>
        <p:nvPicPr>
          <p:cNvPr id="7" name="Image 0" descr="/home/claude/c_inter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828800"/>
            <a:ext cx="68580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18120" y="1783080"/>
            <a:ext cx="3840480" cy="4023360"/>
          </a:xfrm>
          <a:prstGeom prst="roundRect">
            <a:avLst>
              <a:gd name="adj" fmla="val 2381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충격은 환경 조건이다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92440" y="24231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C를 반복 베르누이(p=0.5)로 모델링하면, 한 기의 차단 do(C=0)은 곡선을 한 칸 미룰 뿐이다.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92440" y="3566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붕괴: t1 .249 → t3 .576 → t5 .761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92440" y="43434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유효 표적은 C가 아니라 내부 경로의 억제 </a:t>
            </a:r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do(E).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815084" cy="310896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이전·반사실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이전가능성 — 선택 다이어그램과 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→ 타깃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(데이터 풍부 A·B): 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 y | do(x), S=1 )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 (희소 C, 스파르타): 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 y | do(x), S=0 )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형식 근거 (s-admissibility)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선택노드 S가 식별식의 인자 P(m|W)·P(Y|w',m)에 진입하지 않을 때, do-효과는 도메인 간 이전 가능하다. 이전되는 것은 관측분포가 아니라 do-식별 메커니즘이다.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109960" cy="2103120"/>
          </a:xfrm>
          <a:prstGeom prst="roundRect">
            <a:avLst>
              <a:gd name="adj" fmla="val 4348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9776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이전을 떠받치는 가정과 그 한계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동형성: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미시 보상–왜곡 구조(W→E→M→Y)가 도메인 불변이라고 가정한다. 이것이 현대 기업의 메커니즘을 2,400년 전 스파르타로 이식하는 정당화의 핵심이다.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한계: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C에서는 동형성을 데이터로 검정할 수 없다 → C에 대한 결론은 조건부 진술로만 유효하다.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815084" cy="310896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이전·반사실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스파르타 반사실 — do(E = Low)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분기점 (BC 404)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펠로폰네소스 전쟁 승리. 페르시아 전리품·공물의 막대한 유입 (처치 W).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9659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역사 (Y = 1)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전리품 사유화 허용 → 토지 집중·시민 수 감소·빈부격차 극대화(E 누적). BC 371 레욱트라 패전(C)에서 패권 상실.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반사실 (Y = 0)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do(E=Low): 전리품 사유 축적을 금지하고 토지 재분배(레트라)를 강제했다면 — S가 임계점 위에 머물러 동일한 충격 C를 흡수, 즉각적 패권 상실은 없었다.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반사실의 신뢰도는 전적으로 구조 동형성 가정의 타당성에 구속되는 조건부 진술이다.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815084" cy="310896"/>
          </a:xfrm>
          <a:prstGeom prst="roundRect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· 이전·반사실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에이전트 — 보조 일관성 점검 (검증 아님)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기원전 400년경 스파르타 정책결정자(에포로스)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A: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역사적 경로(개입 없음)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B: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do(E=Low) 레트라 전제 주입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산출: </a:t>
            </a:r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B에서 Y=0 서사 도출 → 이식된 SCM과 정합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단서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에이전트에는 동일한 UC-SCM 프레임과 배경이 주입된다. 따라서 같은 결론은 독립적 검증이 아니라 입력에 내장된 결론의 재현 — 서사적 타당성 점검 도구일 뿐이다.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49377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강한 증거로 제시하지 않으며, 실 API 호출은 재현 범위에서 제외한다.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F5B84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3944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· 결론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정직한 한계점 방어 (MECE)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057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데이터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수치가 합성이므로 입증 대상은 파이프라인·식별 전략의 타당성이지 역사적 사실이 아니다.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4114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보수적 상한 검증으로 방향성을 확보.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18288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057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측정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09160" y="265176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극단적 통제 체제에서는 담론(M)이 조작되어 A1(U→M 차폐)이 깨질 수 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4114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A1 위반도 편향을 양(+)으로 밀어올려 상한 논리가 유지됨.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84464" y="182880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77072" y="2057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5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식별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77072" y="265176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C로의 이전은 구조 동형성에 의존하며 데이터로 검정 불가.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77072" y="41148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방어: C의 결론을 조건부 진술로 한정.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109960" cy="960120"/>
          </a:xfrm>
          <a:prstGeom prst="roundRect">
            <a:avLst>
              <a:gd name="adj" fmla="val 9524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빅카인즈 1994–1998 실데이터에 동일 파이프라인을 적용하는 것이 즉시 가능하다 — 스키마·지표·추정 코드는 변경 없이 재사용된다.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035040" cy="6035040"/>
          </a:xfrm>
          <a:prstGeom prst="ellipse">
            <a:avLst/>
          </a:prstGeom>
          <a:solidFill>
            <a:srgbClr val="1A1322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3291840"/>
            <a:ext cx="5486400" cy="5486400"/>
          </a:xfrm>
          <a:prstGeom prst="ellipse">
            <a:avLst/>
          </a:prstGeom>
          <a:solidFill>
            <a:srgbClr val="1520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— 진범은 W, 유일 레버는 do(E)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풍요는 축복이 아니라 거대한 시스템 스트레스 테스트다.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241A1C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7432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붕괴 직전의 충격(C)을 막으려 애쓰지 마라 — 그것은 다음 충격까지의 지연일 뿐이다.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5241E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42976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유일한 지렛대는 호황기 내부 엔트로피의 억제 — do(E).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5B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타임라인을 다시 쓰라. 붕괴의 1일차는 방아쇠가 당겨진 날이 아니라, 황금기가 시작되던 첫날이었다.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7E8CA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— 데이터 출처 · 참고문헌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161B27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출처 (실데이터 대체 경로)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한국 1997 — 빅카인즈 1994–1998 기사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닷컴버블 — NYT Article Archive 1998–2002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스파르타 — 페르세우스 디지털 라이브러리 (크세노폰·플루타르코스)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1C2331"/>
          </a:solidFill>
          <a:ln/>
          <a:effectLst>
            <a:outerShdw sx="100000" sy="100000" kx="0" ky="0" algn="bl" rotWithShape="0" blurRad="114300" dist="38100" dir="54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참고문헌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&amp; Mackenzie, The Book of Why, Ch. 7 (전단계 기준)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 &amp; Bareinboim (2014), Transportability (선택 다이어그램)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Glynn &amp; Kashin (2014), 전단계 추정 검증 (JTPA)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85216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C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출처는 별도 배포자료에 수록. 본 발표의 전 수치는 시드 고정(seed=42) 합성 데이터 기반.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붕괴의 진범: 과잉 풍요와 인과적 착시</dc:title>
  <dc:subject>PptxGenJS Presentation</dc:subject>
  <dc:creator>최한동</dc:creator>
  <cp:lastModifiedBy>최한동</cp:lastModifiedBy>
  <cp:revision>1</cp:revision>
  <dcterms:created xsi:type="dcterms:W3CDTF">2026-06-14T12:36:39Z</dcterms:created>
  <dcterms:modified xsi:type="dcterms:W3CDTF">2026-06-14T12:36:39Z</dcterms:modified>
</cp:coreProperties>
</file>